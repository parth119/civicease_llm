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60" r:id="rId6"/>
    <p:sldId id="265" r:id="rId7"/>
    <p:sldId id="270" r:id="rId8"/>
    <p:sldId id="268" r:id="rId9"/>
    <p:sldId id="259" r:id="rId10"/>
    <p:sldId id="261" r:id="rId11"/>
    <p:sldId id="263" r:id="rId12"/>
    <p:sldId id="26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43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B7CE0-C064-DEA3-93D3-A6734B1B6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46B934-2805-9CAD-7D5A-DAFA5CDA92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82A3D6-44F7-679A-0642-82365D3D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7072-D43C-4092-8EFF-66CB1C4AF531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9E3EA-C469-7BE2-A9B6-24828C875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11141-F043-8DC8-EAEE-7D1DC77AA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58816-180E-4069-8174-21F039C570D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645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68BC3-61EC-620A-F7B2-43A81CBF8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2360C-E916-C74D-9B5F-2D5A18E25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C43F9-B915-0A55-7556-6501622E7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7072-D43C-4092-8EFF-66CB1C4AF531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BB9D4-2F4F-43F6-8C98-161165D06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42C27-35A2-8D4D-DC4E-212E5FB0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58816-180E-4069-8174-21F039C570D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9886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E2FAA-40D3-7247-BA3C-8B36BDA87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978AB-8B31-DA5B-55F9-F79C963ED8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D21D6-A3CF-42DE-8FC1-2DC8B5224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7072-D43C-4092-8EFF-66CB1C4AF531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94D8E-98E3-F8FC-FB26-4B84FB1B9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62409-4286-F4C7-0C80-F06796D31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58816-180E-4069-8174-21F039C570D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529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5728B-32DE-F8C6-1565-1C3B3CD0F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2476C-F721-ACDE-13AD-9687208842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71D2AB-92E7-69D8-1C00-39E513DB2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196B0C-1AEE-E4AE-6206-45CCECEE7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7072-D43C-4092-8EFF-66CB1C4AF531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26E58-D78D-06B9-CCC5-05B835C12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F3F80-A31D-1EDA-FA8D-13FFCDB33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58816-180E-4069-8174-21F039C570D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080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62909-81D7-8AE6-AAEC-68CE851CC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F739C-E872-027E-3B80-397B15A62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F0C390-74BE-F693-88B6-A32D2C8B42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44B3A0-3243-68EE-5285-8DA44D309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E4AF6A-1388-F028-10BB-D7BF41500A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B313CB-4BA1-33D4-075F-A41B9139A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7072-D43C-4092-8EFF-66CB1C4AF531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F75276-C486-74D2-42B4-DDF222572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DA6187-09A7-E884-3B4C-C52628132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58816-180E-4069-8174-21F039C570D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2810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9FF91-793D-3B5F-5F78-385D72759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25E958-5D29-3BC2-8BB6-CBE3E0590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7072-D43C-4092-8EFF-66CB1C4AF531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7E9A1-69F5-F8D2-7E9E-A85516397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59ED58-9BC8-DDC5-38F0-BBD82B05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58816-180E-4069-8174-21F039C570D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814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6F921D-E9B1-4400-6813-AC5ECE526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7072-D43C-4092-8EFF-66CB1C4AF531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90AFB0-25F2-03A9-B5FB-B4EE0AFC7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C3B10-484F-9C49-60E1-1AC2F3D8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58816-180E-4069-8174-21F039C570D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483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D3C95-8A32-20E8-D0CD-4B27F080A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67FAD-8E48-7559-D560-0E25D500B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7E4EB2-D10F-D400-711B-93CABF10C2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B3B43-1054-FC12-EA21-87135669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7072-D43C-4092-8EFF-66CB1C4AF531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262FE-C7E3-1B26-B10E-1070539A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14DB3-F4DE-2181-4E15-9CB3E8B18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58816-180E-4069-8174-21F039C570D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317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6F0EB-1F2B-E4D5-A9D7-482430DE5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8C1E20-8968-4067-4A33-756674C97E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4B531D-5A02-4297-B04C-F5035CC75E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877765-83FC-15E2-C862-A0BABE052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7072-D43C-4092-8EFF-66CB1C4AF531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7A0580-FD58-A0D9-D1FD-E84AE06A0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88CB5-7E35-6D11-6365-CEFF415CA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58816-180E-4069-8174-21F039C570D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834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4EC54-0D8A-C709-2F25-EEF278762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C52557-7EFB-0BDD-18BB-02EF04F13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ADF432-8B0E-5B47-2FE9-C9F879FC2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7072-D43C-4092-8EFF-66CB1C4AF531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6F844-70EA-7721-66D3-32C4EF695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88BA0-450F-49D1-15C3-6459B61F5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58816-180E-4069-8174-21F039C570D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998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24DA3E-8D6D-277E-E971-4AC4F15368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877129-24DD-D81B-C264-4C2855024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44580-D3F6-6E75-D9C2-94DD9704C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07072-D43C-4092-8EFF-66CB1C4AF531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B5EB3-EB6F-6822-0D69-28593B154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39B93-259F-28C5-2CCB-C691B2D4E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F58816-180E-4069-8174-21F039C570D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449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AC225A-69CC-41E7-B762-4C324EC75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2031B-08C3-05F9-34EF-22BA62D5F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3B879-93B8-CABC-C00E-AE7EE0DB7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B07072-D43C-4092-8EFF-66CB1C4AF531}" type="datetimeFigureOut">
              <a:rPr lang="en-IN" smtClean="0"/>
              <a:pPr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933D8-B748-070C-77DB-F2D1632EE5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1A956-87A2-9998-FB09-BEBED6C45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58816-180E-4069-8174-21F039C570D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62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FD237-F461-5B03-A1C9-385B34264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5949" y="365760"/>
            <a:ext cx="9320226" cy="3271838"/>
          </a:xfrm>
        </p:spPr>
        <p:txBody>
          <a:bodyPr>
            <a:normAutofit/>
          </a:bodyPr>
          <a:lstStyle/>
          <a:p>
            <a:r>
              <a:rPr lang="en-US" sz="3600" dirty="0" err="1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CivicEase</a:t>
            </a:r>
            <a:r>
              <a:rPr lang="en-US" sz="36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: Intelligent Citizen Profiling &amp; Automated Benefit Application Agent</a:t>
            </a:r>
            <a:br>
              <a:rPr lang="en-IN" sz="6000" dirty="0">
                <a:solidFill>
                  <a:srgbClr val="00B0F0"/>
                </a:solidFill>
                <a:latin typeface="Book Antiqua" panose="02040602050305030304" pitchFamily="18" charset="0"/>
              </a:rPr>
            </a:br>
            <a:endParaRPr lang="en-IN" dirty="0">
              <a:solidFill>
                <a:srgbClr val="00B0F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29045B-8AEC-21F2-96FC-13C015554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2773" y="4530503"/>
            <a:ext cx="9659552" cy="1655762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  <a:latin typeface="Book Antiqua" panose="02040602050305030304" pitchFamily="18" charset="0"/>
              </a:rPr>
              <a:t>Name () Reg No ()</a:t>
            </a:r>
            <a:r>
              <a:rPr lang="en-US" sz="2400" dirty="0">
                <a:solidFill>
                  <a:srgbClr val="C00000"/>
                </a:solidFill>
                <a:latin typeface="Book Antiqua" panose="02040602050305030304" pitchFamily="18" charset="0"/>
              </a:rPr>
              <a:t> | </a:t>
            </a:r>
            <a:r>
              <a:rPr lang="en-US" sz="2400" dirty="0">
                <a:solidFill>
                  <a:schemeClr val="bg1"/>
                </a:solidFill>
                <a:latin typeface="Book Antiqua" panose="02040602050305030304" pitchFamily="18" charset="0"/>
              </a:rPr>
              <a:t>|</a:t>
            </a:r>
            <a:r>
              <a:rPr lang="en-US" dirty="0">
                <a:solidFill>
                  <a:srgbClr val="00B050"/>
                </a:solidFill>
                <a:latin typeface="Book Antiqua" panose="02040602050305030304" pitchFamily="18" charset="0"/>
              </a:rPr>
              <a:t>Guide: BIJI C.L</a:t>
            </a:r>
            <a:r>
              <a:rPr lang="en-US" sz="2400" dirty="0">
                <a:solidFill>
                  <a:srgbClr val="00B050"/>
                </a:solidFill>
                <a:latin typeface="Book Antiqua" panose="02040602050305030304" pitchFamily="18" charset="0"/>
              </a:rPr>
              <a:t> </a:t>
            </a:r>
            <a:r>
              <a:rPr lang="en-US" sz="2400" dirty="0">
                <a:solidFill>
                  <a:srgbClr val="C00000"/>
                </a:solidFill>
                <a:latin typeface="Book Antiqua" panose="02040602050305030304" pitchFamily="18" charset="0"/>
              </a:rPr>
              <a:t>| SCOPE</a:t>
            </a:r>
          </a:p>
          <a:p>
            <a:endParaRPr lang="en-IN" dirty="0">
              <a:latin typeface="Book Antiqua" panose="02040602050305030304" pitchFamily="18" charset="0"/>
            </a:endParaRP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2E9B98F8-7A43-2139-4547-C4BEA3BB5F18}"/>
              </a:ext>
            </a:extLst>
          </p:cNvPr>
          <p:cNvSpPr txBox="1">
            <a:spLocks/>
          </p:cNvSpPr>
          <p:nvPr/>
        </p:nvSpPr>
        <p:spPr>
          <a:xfrm>
            <a:off x="2633472" y="1499616"/>
            <a:ext cx="18390340" cy="692658"/>
          </a:xfrm>
          <a:prstGeom prst="rect">
            <a:avLst/>
          </a:prstGeom>
        </p:spPr>
        <p:txBody>
          <a:bodyPr/>
          <a:lstStyle>
            <a:lvl1pPr marL="534581" indent="-534581" algn="l" defTabSz="2138324" rtl="0" eaLnBrk="1" latinLnBrk="0" hangingPunct="1">
              <a:lnSpc>
                <a:spcPct val="90000"/>
              </a:lnSpc>
              <a:spcBef>
                <a:spcPts val="2339"/>
              </a:spcBef>
              <a:buFont typeface="Arial" panose="020B0604020202020204" pitchFamily="34" charset="0"/>
              <a:buChar char="•"/>
              <a:defRPr sz="654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603743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561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72906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6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742068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4811230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880392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949554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4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0572AC-1B41-B1A1-FFE4-C780E2C430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50" y="160779"/>
            <a:ext cx="2142948" cy="2069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673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D4E7D-C196-579A-187B-924AF94ED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Motivation</a:t>
            </a:r>
            <a:br>
              <a:rPr lang="en-US" sz="36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</a:br>
            <a:endParaRPr lang="en-IN" sz="36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DEAC0-D84F-9C02-4E77-0E71E187B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US" b="1" dirty="0"/>
              <a:t>Information Asymmetry:</a:t>
            </a:r>
            <a:r>
              <a:rPr lang="en-US" dirty="0"/>
              <a:t> Over 2,000+ welfare schemes exist in India, yet millions of eligible citizens (especially in rural areas) miss out because they simply don't know they qualify.</a:t>
            </a:r>
          </a:p>
          <a:p>
            <a:endParaRPr lang="en-US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"Last Mile" Barrier: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Even when citizens find a scheme, the application process involves complex legal jargon and rigid PDF forms, creating a high barrier for non-technical users.</a:t>
            </a:r>
          </a:p>
          <a:p>
            <a:endParaRPr lang="en-IN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r>
              <a:rPr lang="en-US" b="1" dirty="0"/>
              <a:t>Need for Agency:</a:t>
            </a:r>
            <a:r>
              <a:rPr lang="en-US" dirty="0"/>
              <a:t> Existing AI solutions are passive "Chatbots" that only summarize text. There is a critical need for an "Action Agent" that not only informs the user but actively </a:t>
            </a:r>
            <a:r>
              <a:rPr lang="en-US" b="1" dirty="0"/>
              <a:t>completes the work</a:t>
            </a:r>
            <a:r>
              <a:rPr lang="en-US" dirty="0"/>
              <a:t> (filling forms) for them.</a:t>
            </a:r>
            <a:endParaRPr lang="en-IN" dirty="0">
              <a:solidFill>
                <a:schemeClr val="bg1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064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2854B-51E2-306E-5452-07F4E22F0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SCOPE of the Project</a:t>
            </a:r>
            <a:br>
              <a:rPr lang="en-US" sz="3600" dirty="0">
                <a:solidFill>
                  <a:srgbClr val="00B0F0"/>
                </a:solidFill>
                <a:latin typeface="Book Antiqua" panose="02040602050305030304" pitchFamily="18" charset="0"/>
              </a:rPr>
            </a:br>
            <a:endParaRPr lang="en-IN" sz="3600" dirty="0">
              <a:solidFill>
                <a:srgbClr val="00B0F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E3EBA-FAFF-2649-96BC-478221094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In-Scope:</a:t>
            </a:r>
          </a:p>
          <a:p>
            <a:pPr marL="0" indent="0">
              <a:buNone/>
            </a:pPr>
            <a:endParaRPr lang="en-IN" sz="1800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marL="687388" lvl="1" indent="-2301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Development of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Citizen Profiling Engine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OCR and LLMs to extract demographics from user documents (Identity, Income).</a:t>
            </a:r>
          </a:p>
          <a:p>
            <a:pPr marL="687388" lvl="1" indent="-230188" algn="just" eaLnBrk="0" fontAlgn="base" hangingPunct="0">
              <a:lnSpc>
                <a:spcPct val="150000"/>
              </a:lnSpc>
              <a:spcBef>
                <a:spcPts val="30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Creation of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Semantic Matching Logic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filters schemes based on strict eligibility criteria (e.g., Income &lt; 1L, Caste = SC).</a:t>
            </a:r>
          </a:p>
          <a:p>
            <a:pPr marL="687388" lvl="1" indent="-230188" algn="just" eaLnBrk="0" fontAlgn="base" hangingPunct="0">
              <a:lnSpc>
                <a:spcPct val="150000"/>
              </a:lnSpc>
              <a:spcBef>
                <a:spcPts val="30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Form Filling: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Mapping user data programmatically onto official PDF application templates.</a:t>
            </a:r>
          </a:p>
          <a:p>
            <a:pPr marL="687388" lvl="1" indent="-230188" algn="just" eaLnBrk="0" fontAlgn="base" hangingPunct="0">
              <a:lnSpc>
                <a:spcPct val="150000"/>
              </a:lnSpc>
              <a:spcBef>
                <a:spcPts val="30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Proactive Discovery: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Suggesting relevant schemes automatically upon data upload without manual search queries.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932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2854B-51E2-306E-5452-07F4E22F0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SCOPE of the Project</a:t>
            </a:r>
            <a:br>
              <a:rPr lang="en-US" sz="3600" dirty="0">
                <a:solidFill>
                  <a:srgbClr val="00B0F0"/>
                </a:solidFill>
                <a:latin typeface="Book Antiqua" panose="02040602050305030304" pitchFamily="18" charset="0"/>
              </a:rPr>
            </a:br>
            <a:endParaRPr lang="en-IN" sz="3600" dirty="0">
              <a:solidFill>
                <a:srgbClr val="00B0F0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FE3EBA-FAFF-2649-96BC-478221094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Out-Scope:</a:t>
            </a:r>
          </a:p>
          <a:p>
            <a:endParaRPr lang="en-IN" sz="1800" dirty="0">
              <a:solidFill>
                <a:schemeClr val="bg1"/>
              </a:solidFill>
              <a:latin typeface="Book Antiqua" panose="02040602050305030304" pitchFamily="18" charset="0"/>
            </a:endParaRPr>
          </a:p>
          <a:p>
            <a:pPr lvl="1"/>
            <a:r>
              <a:rPr lang="en-US" dirty="0"/>
              <a:t>Physical submission of forms to government portals (API access is restricted).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Legal verification of document authenticity (</a:t>
            </a:r>
            <a:r>
              <a:rPr lang="en-US" dirty="0" err="1"/>
              <a:t>DigiLocker</a:t>
            </a:r>
            <a:r>
              <a:rPr lang="en-US" dirty="0"/>
              <a:t> integration is a future scope).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32769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0E687-9696-24FF-75A7-9F0AFE3C5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Objectives </a:t>
            </a:r>
            <a:endParaRPr lang="en-IN" sz="36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D36D5-75C6-EDA9-FC72-D5D5AE23C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 Develop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an automated pipeline that extracts structured entities (Age, Income, Location) from unstructured user documents (images/text) using OCR and LLMs.</a:t>
            </a:r>
            <a:b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 Design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a </a:t>
            </a: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Deterministic Eligibility Engine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that cross-references user profiles against a database of 1,000+ government schemes with high precision.</a:t>
            </a:r>
            <a:b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b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To Implement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 a Generative "Form Agent" that automatically populates official PDF application forms, reducing the application time from hours to minutes.</a:t>
            </a:r>
          </a:p>
          <a:p>
            <a:pPr>
              <a:buNone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93938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3B6F8-70C4-381A-D635-BACD729C4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Literature Review: Critical Analysis </a:t>
            </a:r>
            <a:endParaRPr lang="en-IN" sz="36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94D317-72EE-CC21-FB0B-1C6EEEDE5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Traditional Keyword Search Systems (e.g., Standard Portals):</a:t>
            </a:r>
            <a:endParaRPr lang="en-IN" dirty="0"/>
          </a:p>
          <a:p>
            <a:pPr marL="0" indent="0">
              <a:buNone/>
            </a:pPr>
            <a:endParaRPr lang="en-IN" i="1" dirty="0"/>
          </a:p>
          <a:p>
            <a:pPr marL="0" indent="0">
              <a:buNone/>
            </a:pPr>
            <a:r>
              <a:rPr lang="en-IN" i="1" dirty="0"/>
              <a:t>Analysis: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/>
              <a:t>Relies on exact keyword matches. Fails when users describe their situation naturally (e.g., "I am a poor farmer" vs. "BPL Card Holder").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3446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3B6F8-70C4-381A-D635-BACD729C4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Literature Review: Critical Analysis </a:t>
            </a:r>
            <a:endParaRPr lang="en-IN" sz="36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94D317-72EE-CC21-FB0B-1C6EEEDE5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RAG-based Chatbots (e.g., </a:t>
            </a:r>
            <a:r>
              <a:rPr lang="en-IN" b="1" dirty="0" err="1"/>
              <a:t>GenAI</a:t>
            </a:r>
            <a:r>
              <a:rPr lang="en-IN" b="1" dirty="0"/>
              <a:t> Wrappers):</a:t>
            </a:r>
            <a:endParaRPr lang="en-IN" i="1" dirty="0"/>
          </a:p>
          <a:p>
            <a:pPr marL="0" indent="0">
              <a:buNone/>
            </a:pPr>
            <a:r>
              <a:rPr lang="en-US" i="1" dirty="0"/>
              <a:t>Analysis: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Good at summarizing scheme rules but suffer from </a:t>
            </a:r>
            <a:r>
              <a:rPr lang="en-US" b="1" dirty="0"/>
              <a:t>"Action Paralysis."</a:t>
            </a:r>
            <a:r>
              <a:rPr lang="en-US" dirty="0"/>
              <a:t> They can tell you </a:t>
            </a:r>
            <a:r>
              <a:rPr lang="en-US" i="1" dirty="0"/>
              <a:t>how</a:t>
            </a:r>
            <a:r>
              <a:rPr lang="en-US" dirty="0"/>
              <a:t> to apply but cannot </a:t>
            </a:r>
            <a:r>
              <a:rPr lang="en-US" i="1" dirty="0"/>
              <a:t>do</a:t>
            </a:r>
            <a:r>
              <a:rPr lang="en-US" dirty="0"/>
              <a:t> it for you.</a:t>
            </a:r>
            <a:endParaRPr lang="en-IN" dirty="0"/>
          </a:p>
          <a:p>
            <a:endParaRPr lang="en-IN" sz="1600" dirty="0"/>
          </a:p>
          <a:p>
            <a:pPr marL="0" indent="0">
              <a:buNone/>
            </a:pPr>
            <a:r>
              <a:rPr lang="en-IN" b="1" dirty="0"/>
              <a:t>OCR &amp; Digitization Tools:</a:t>
            </a:r>
          </a:p>
          <a:p>
            <a:pPr marL="0" indent="0">
              <a:buNone/>
            </a:pPr>
            <a:r>
              <a:rPr lang="en-US" i="1" dirty="0"/>
              <a:t>Analysis: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Tools like Google Lens extract text but lack the </a:t>
            </a:r>
            <a:r>
              <a:rPr lang="en-US" b="1" dirty="0"/>
              <a:t>Reasoning Layer</a:t>
            </a:r>
            <a:r>
              <a:rPr lang="en-US" dirty="0"/>
              <a:t> to understand if that text meets complex criteria (e.g., "Is the income valid for this specific year?").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5776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Gap identified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187DCEB-A00F-4D0B-BCE5-0235CA11D5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15198"/>
            <a:ext cx="10257148" cy="3447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7013" marR="0" lvl="0" indent="-2270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"Passive vs. Active" Gap: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Current research focuses heavily on 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Information Retrieval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(finding the document). There is a significant gap in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Task Automation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(using that info to complete a workflow).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27013" marR="0" lvl="0" indent="-2270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Contextual Matching: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Existing search engines lack "Semantic Reasoning." They cannot infer that a "Widow with 2 children" is implicitly eligible for specific "Single Mother" schemes unless explicitly stated.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27013" marR="0" lvl="0" indent="-227013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Proactivity: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current system proactively suggests schemes based on uploaded documents; users must know what to search for beforehand.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D17D9-6232-B804-7034-BBEAFBEEF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Proposed Methodology</a:t>
            </a:r>
            <a:br>
              <a:rPr lang="en-US" altLang="zh-CN" sz="3600" dirty="0">
                <a:solidFill>
                  <a:srgbClr val="00B0F0"/>
                </a:solidFill>
                <a:latin typeface="Book Antiqua" panose="02040602050305030304" pitchFamily="18" charset="0"/>
              </a:rPr>
            </a:br>
            <a:endParaRPr lang="en-IN" sz="3600" dirty="0">
              <a:solidFill>
                <a:srgbClr val="00B0F0"/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E88367-96F7-07F5-16AF-4018948A8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021"/>
            <a:ext cx="10515600" cy="4762942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Step 1: Data Ingestion &amp; OCR:</a:t>
            </a:r>
            <a:endParaRPr lang="en-IN" dirty="0"/>
          </a:p>
          <a:p>
            <a:pPr lvl="1"/>
            <a:r>
              <a:rPr lang="en-IN" dirty="0"/>
              <a:t>Input: User uploads images (Income Cert, Aadhaar).</a:t>
            </a:r>
          </a:p>
          <a:p>
            <a:pPr lvl="1"/>
            <a:r>
              <a:rPr lang="en-IN" dirty="0"/>
              <a:t>Tool: </a:t>
            </a:r>
            <a:r>
              <a:rPr lang="en-IN" b="1" dirty="0" err="1"/>
              <a:t>EasyOCR</a:t>
            </a:r>
            <a:r>
              <a:rPr lang="en-IN" dirty="0"/>
              <a:t> extracts raw text.</a:t>
            </a:r>
          </a:p>
          <a:p>
            <a:pPr marL="457200" lvl="1" indent="0">
              <a:buNone/>
            </a:pPr>
            <a:endParaRPr lang="en-IN" dirty="0"/>
          </a:p>
          <a:p>
            <a:r>
              <a:rPr lang="en-IN" b="1" dirty="0"/>
              <a:t>Step 2: Intelligent Profiling (LLM):</a:t>
            </a:r>
            <a:endParaRPr lang="en-IN" dirty="0"/>
          </a:p>
          <a:p>
            <a:pPr lvl="1"/>
            <a:r>
              <a:rPr lang="en-IN" dirty="0"/>
              <a:t>Model: </a:t>
            </a:r>
            <a:r>
              <a:rPr lang="en-IN" b="1" dirty="0"/>
              <a:t>Mistral-7B</a:t>
            </a:r>
            <a:r>
              <a:rPr lang="en-IN" dirty="0"/>
              <a:t> (via </a:t>
            </a:r>
            <a:r>
              <a:rPr lang="en-IN" dirty="0" err="1"/>
              <a:t>HuggingFace</a:t>
            </a:r>
            <a:r>
              <a:rPr lang="en-IN" dirty="0"/>
              <a:t>).</a:t>
            </a:r>
          </a:p>
          <a:p>
            <a:pPr lvl="1"/>
            <a:r>
              <a:rPr lang="en-US" dirty="0"/>
              <a:t>Process: Converts raw text into a structured JSON Profile (e.g., {"income": 150000, "category": "OBC"}). </a:t>
            </a:r>
          </a:p>
          <a:p>
            <a:pPr lvl="1"/>
            <a:endParaRPr lang="en-IN" dirty="0"/>
          </a:p>
          <a:p>
            <a:r>
              <a:rPr lang="en-IN" b="1" dirty="0"/>
              <a:t>Step 3: Eligibility Matching:</a:t>
            </a:r>
            <a:endParaRPr lang="en-IN" dirty="0"/>
          </a:p>
          <a:p>
            <a:pPr lvl="1"/>
            <a:r>
              <a:rPr lang="en-US" dirty="0"/>
              <a:t>Tool: </a:t>
            </a:r>
            <a:r>
              <a:rPr lang="en-US" b="1" dirty="0"/>
              <a:t>FAISS (Vector DB)</a:t>
            </a:r>
            <a:r>
              <a:rPr lang="en-US" dirty="0"/>
              <a:t> for retrieving relevant schemes + </a:t>
            </a:r>
            <a:r>
              <a:rPr lang="en-US" b="1" dirty="0"/>
              <a:t>Logical Filters</a:t>
            </a:r>
            <a:r>
              <a:rPr lang="en-US" dirty="0"/>
              <a:t> for strict criteria checking.</a:t>
            </a:r>
          </a:p>
          <a:p>
            <a:pPr lvl="1"/>
            <a:endParaRPr lang="en-US" dirty="0"/>
          </a:p>
          <a:p>
            <a:r>
              <a:rPr lang="en-US" b="1" dirty="0"/>
              <a:t>Step 4: Autonomous Form Filling:</a:t>
            </a:r>
            <a:endParaRPr lang="en-IN" dirty="0"/>
          </a:p>
          <a:p>
            <a:pPr lvl="1"/>
            <a:r>
              <a:rPr lang="en-US" dirty="0"/>
              <a:t>T</a:t>
            </a:r>
            <a:r>
              <a:rPr lang="en-IN" dirty="0"/>
              <a:t>Tool: </a:t>
            </a:r>
            <a:r>
              <a:rPr lang="en-IN" b="1" dirty="0" err="1"/>
              <a:t>PyMuPDF</a:t>
            </a:r>
            <a:r>
              <a:rPr lang="en-IN" dirty="0"/>
              <a:t>.</a:t>
            </a:r>
          </a:p>
          <a:p>
            <a:pPr lvl="1"/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Action: Maps the JSON values to specific spatial coordinates (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$x, y$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 on the target PDF form.</a:t>
            </a:r>
            <a:endParaRPr lang="en-US" dirty="0"/>
          </a:p>
          <a:p>
            <a:pPr lvl="1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1190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7988E-CB6D-3E61-DB7C-3A62CA8DC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Skills Required [What skills are known and what you planned to acquire]</a:t>
            </a:r>
            <a:endParaRPr lang="en-IN" sz="36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2A14EC-9E8D-4C84-74BF-9D3F3D00E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Skills Known:</a:t>
            </a:r>
            <a:endParaRPr lang="en-IN" dirty="0"/>
          </a:p>
          <a:p>
            <a:pPr lvl="1"/>
            <a:r>
              <a:rPr lang="en-IN" b="1" dirty="0"/>
              <a:t>Programming:</a:t>
            </a:r>
            <a:r>
              <a:rPr lang="en-IN" dirty="0"/>
              <a:t> Python (Advanced), Java.</a:t>
            </a:r>
          </a:p>
          <a:p>
            <a:pPr lvl="1"/>
            <a:r>
              <a:rPr lang="en-IN" b="1" dirty="0"/>
              <a:t>Core CS:</a:t>
            </a:r>
            <a:r>
              <a:rPr lang="en-IN" dirty="0"/>
              <a:t> Data Structures, Algorithms.</a:t>
            </a:r>
          </a:p>
          <a:p>
            <a:pPr lvl="1"/>
            <a:r>
              <a:rPr lang="en-IN" b="1" dirty="0"/>
              <a:t>Data Handling:</a:t>
            </a:r>
            <a:r>
              <a:rPr lang="en-IN" dirty="0"/>
              <a:t> Pandas, NumPy.</a:t>
            </a:r>
          </a:p>
          <a:p>
            <a:pPr lvl="1"/>
            <a:endParaRPr lang="en-IN" dirty="0"/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en-US" alt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Skills Planned to Acquire:</a:t>
            </a:r>
            <a:endParaRPr kumimoji="0" lang="en-US" alt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687388" lvl="1" indent="-230188" defTabSz="1141413" eaLnBrk="0" fontAlgn="base" hangingPunct="0">
              <a:lnSpc>
                <a:spcPct val="100000"/>
              </a:lnSpc>
              <a:spcBef>
                <a:spcPts val="150"/>
              </a:spcBef>
              <a:spcAft>
                <a:spcPct val="0"/>
              </a:spcAft>
              <a:buFontTx/>
              <a:buChar char="•"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Generative AI: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Prompt Engineering, RAG (Retrieval Augmented Generation),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LangChain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Orchestration.</a:t>
            </a:r>
          </a:p>
          <a:p>
            <a:pPr marL="687388" lvl="1" indent="-230188" eaLnBrk="0" fontAlgn="base" hangingPunct="0">
              <a:lnSpc>
                <a:spcPct val="100000"/>
              </a:lnSpc>
              <a:spcBef>
                <a:spcPts val="150"/>
              </a:spcBef>
              <a:spcAft>
                <a:spcPct val="0"/>
              </a:spcAft>
              <a:buFontTx/>
              <a:buChar char="•"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Vector Databases: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Implementation of FAISS/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ChromaDB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for semantic search.</a:t>
            </a:r>
          </a:p>
          <a:p>
            <a:pPr marL="687388" lvl="1" indent="-230188" eaLnBrk="0" fontAlgn="base" hangingPunct="0">
              <a:lnSpc>
                <a:spcPct val="100000"/>
              </a:lnSpc>
              <a:spcBef>
                <a:spcPts val="150"/>
              </a:spcBef>
              <a:spcAft>
                <a:spcPct val="0"/>
              </a:spcAft>
              <a:buFontTx/>
              <a:buChar char="•"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PDF Automation: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Coordinate mapping using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PyMuPDF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ReportLab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687388" lvl="1" indent="-230188" eaLnBrk="0" fontAlgn="base" hangingPunct="0">
              <a:lnSpc>
                <a:spcPct val="100000"/>
              </a:lnSpc>
              <a:spcBef>
                <a:spcPts val="150"/>
              </a:spcBef>
              <a:spcAft>
                <a:spcPct val="0"/>
              </a:spcAft>
              <a:buFontTx/>
              <a:buChar char="•"/>
              <a:defRPr/>
            </a:pPr>
            <a:r>
              <a:rPr kumimoji="0" lang="en-US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Deployment: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Streamlit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for rapid UI prototyping.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lvl="1"/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86850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ADB1-077D-A2A2-FE1D-43821BD5D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Preliminary Results </a:t>
            </a:r>
            <a:endParaRPr lang="en-IN" sz="36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A8A1906-12AD-4C0E-943A-CD42233A88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137559"/>
            <a:ext cx="9983771" cy="34265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39725" marR="0" lvl="0" indent="-339725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Dataset Collection: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Scraped metadata for 500+ schemes from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myscheme.gov.in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structured them into a clean JSON format.</a:t>
            </a:r>
          </a:p>
          <a:p>
            <a:pPr marL="339725" marR="0" lvl="0" indent="-339725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9725" marR="0" lvl="0" indent="-339725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OCR Testing: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Successfully tested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EasyOCR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on sample dummy Aadhaar cards to extract Name and DOB with 90% accuracy.</a:t>
            </a:r>
          </a:p>
          <a:p>
            <a:pPr marL="339725" marR="0" lvl="0" indent="-339725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39725" marR="0" lvl="0" indent="-339725" algn="l" defTabSz="914400" rtl="0" eaLnBrk="0" fontAlgn="base" latinLnBrk="0" hangingPunct="0">
              <a:lnSpc>
                <a:spcPct val="10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Template Mapping: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Identified coordinates for fields (Name, Address) on 3 sample PDF forms (Scholarship, Income Certificate).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403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BF75-329F-329C-FF0E-6E4FCD791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>
                <a:solidFill>
                  <a:schemeClr val="accent5">
                    <a:lumMod val="50000"/>
                  </a:schemeClr>
                </a:solidFill>
                <a:latin typeface="Book Antiqua" panose="02040602050305030304" pitchFamily="18" charset="0"/>
              </a:rPr>
              <a:t>Expected Outcome</a:t>
            </a:r>
            <a:endParaRPr lang="en-IN" sz="3600" dirty="0">
              <a:solidFill>
                <a:schemeClr val="accent5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B4C3BE-02D1-40F5-AAB3-702D91A985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73972"/>
            <a:ext cx="9889504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7013" marR="0" lvl="0" indent="-22701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Functional Prototype: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web-based "Digital Caseworker" where a user uploads a document and receives a filled application form in &lt;2 minutes.</a:t>
            </a:r>
          </a:p>
          <a:p>
            <a:pPr marL="227013" marR="0" lvl="0" indent="-22701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27013" marR="0" lvl="0" indent="-22701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Efficiency: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Reduction of user effort by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90%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(eliminating manual reading and writing).</a:t>
            </a:r>
          </a:p>
          <a:p>
            <a:pPr marL="227013" marR="0" lvl="0" indent="-22701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27013" marR="0" lvl="0" indent="-22701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Accuracy: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verifiable match rate where the system only suggests schemes for which the user is strictly eligible (minimizing false positives).</a:t>
            </a:r>
          </a:p>
          <a:p>
            <a:pPr marL="227013" marR="0" lvl="0" indent="-22701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27013" marR="0" lvl="0" indent="-227013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Social Impact: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tool ready for deployment in Common Service Centers (CSCs) to assist non-literate citizens.</a:t>
            </a:r>
          </a:p>
        </p:txBody>
      </p:sp>
    </p:spTree>
    <p:extLst>
      <p:ext uri="{BB962C8B-B14F-4D97-AF65-F5344CB8AC3E}">
        <p14:creationId xmlns:p14="http://schemas.microsoft.com/office/powerpoint/2010/main" val="42330815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1661</TotalTime>
  <Words>949</Words>
  <Application>Microsoft Office PowerPoint</Application>
  <PresentationFormat>Widescreen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Book Antiqua</vt:lpstr>
      <vt:lpstr>Calibri</vt:lpstr>
      <vt:lpstr>Calibri Light</vt:lpstr>
      <vt:lpstr>Google Sans Text</vt:lpstr>
      <vt:lpstr>Office Theme</vt:lpstr>
      <vt:lpstr>CivicEase: Intelligent Citizen Profiling &amp; Automated Benefit Application Agent </vt:lpstr>
      <vt:lpstr>Motivation </vt:lpstr>
      <vt:lpstr>SCOPE of the Project </vt:lpstr>
      <vt:lpstr>SCOPE of the Project </vt:lpstr>
      <vt:lpstr>Objectives </vt:lpstr>
      <vt:lpstr>Literature Review: Critical Analysis </vt:lpstr>
      <vt:lpstr>Literature Review: Critical Analysis </vt:lpstr>
      <vt:lpstr>Gap identified </vt:lpstr>
      <vt:lpstr>Proposed Methodology </vt:lpstr>
      <vt:lpstr>Skills Required [What skills are known and what you planned to acquire]</vt:lpstr>
      <vt:lpstr>Preliminary Results </vt:lpstr>
      <vt:lpstr>Expected Outcome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 goes here,  Containing Strictly fit into one line [36 font size] </dc:title>
  <dc:creator>jomyfrancis80@gmail.com</dc:creator>
  <cp:lastModifiedBy>Parth Bhatia</cp:lastModifiedBy>
  <cp:revision>15</cp:revision>
  <dcterms:created xsi:type="dcterms:W3CDTF">2022-12-19T17:04:14Z</dcterms:created>
  <dcterms:modified xsi:type="dcterms:W3CDTF">2026-01-13T05:58:57Z</dcterms:modified>
</cp:coreProperties>
</file>